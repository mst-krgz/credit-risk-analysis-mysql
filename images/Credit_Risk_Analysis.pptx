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webextensions/webextension1.xml" ContentType="application/vnd.ms-office.webextensio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0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63067" autoAdjust="0"/>
  </p:normalViewPr>
  <p:slideViewPr>
    <p:cSldViewPr snapToGrid="0" snapToObjects="1">
      <p:cViewPr varScale="1">
        <p:scale>
          <a:sx n="138" d="100"/>
          <a:sy n="138" d="100"/>
        </p:scale>
        <p:origin x="114" y="5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Ausfallrate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51-4B63-B7B3-1778DE6173BA}"/>
              </c:ext>
            </c:extLst>
          </c:dPt>
          <c:dPt>
            <c:idx val="1"/>
            <c:invertIfNegative val="0"/>
            <c:bubble3D val="0"/>
            <c:spPr>
              <a:solidFill>
                <a:srgbClr val="F1C4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51-4B63-B7B3-1778DE6173BA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51-4B63-B7B3-1778DE6173B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47%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151-4B63-B7B3-1778DE6173B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23%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151-4B63-B7B3-1778DE6173B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151-4B63-B7B3-1778DE6173B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Niedriges
Einkommen</c:v>
                </c:pt>
                <c:pt idx="1">
                  <c:v>Mittleres
Einkommen</c:v>
                </c:pt>
                <c:pt idx="2">
                  <c:v>Hohes
Einkommen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45.5</c:v>
                </c:pt>
                <c:pt idx="1">
                  <c:v>22.3</c:v>
                </c:pt>
                <c:pt idx="2">
                  <c:v>8.6999999999999993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51-4B63-B7B3-1778DE6173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Ausfallrate %</c:v>
                </c:pt>
              </c:strCache>
            </c:strRef>
          </c:tx>
          <c:spPr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10%</c:v>
                </c:pt>
                <c:pt idx="1">
                  <c:v>20%</c:v>
                </c:pt>
                <c:pt idx="2">
                  <c:v>30%</c:v>
                </c:pt>
                <c:pt idx="3">
                  <c:v>40%</c:v>
                </c:pt>
                <c:pt idx="4">
                  <c:v>50%</c:v>
                </c:pt>
                <c:pt idx="5">
                  <c:v>60%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12</c:v>
                </c:pt>
                <c:pt idx="2">
                  <c:v>25</c:v>
                </c:pt>
                <c:pt idx="3">
                  <c:v>48</c:v>
                </c:pt>
                <c:pt idx="4">
                  <c:v>67</c:v>
                </c:pt>
                <c:pt idx="5">
                  <c:v>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15B-4F20-A251-5C09FDB2612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448028131098997E-2"/>
          <c:y val="6.816423337707786E-2"/>
          <c:w val="0.91201544518473654"/>
          <c:h val="0.813982529527559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Ausfallrate %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0B-4D60-B5DE-4ABF06778FFC}"/>
              </c:ext>
            </c:extLst>
          </c:dPt>
          <c:dPt>
            <c:idx val="1"/>
            <c:invertIfNegative val="0"/>
            <c:bubble3D val="0"/>
            <c:spPr>
              <a:solidFill>
                <a:srgbClr val="7FB0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0B-4D60-B5DE-4ABF06778FFC}"/>
              </c:ext>
            </c:extLst>
          </c:dPt>
          <c:dPt>
            <c:idx val="2"/>
            <c:invertIfNegative val="0"/>
            <c:bubble3D val="0"/>
            <c:spPr>
              <a:solidFill>
                <a:srgbClr val="F1C4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0B-4D60-B5DE-4ABF06778FFC}"/>
              </c:ext>
            </c:extLst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E0B-4D60-B5DE-4ABF06778FFC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E0B-4D60-B5DE-4ABF06778FFC}"/>
              </c:ext>
            </c:extLst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E0B-4D60-B5DE-4ABF06778FFC}"/>
              </c:ext>
            </c:extLst>
          </c:dPt>
          <c:dPt>
            <c:idx val="6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E0B-4D60-B5DE-4ABF06778F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E0B-4D60-B5DE-4ABF06778F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0B-4D60-B5DE-4ABF06778F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E0B-4D60-B5DE-4ABF06778FF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60%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E0B-4D60-B5DE-4ABF06778FF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65%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E0B-4D60-B5DE-4ABF06778FF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71%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E0B-4D60-B5DE-4ABF06778FF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98%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6E0B-4D60-B5DE-4ABF06778FF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15</c:v>
                </c:pt>
                <c:pt idx="2">
                  <c:v>28</c:v>
                </c:pt>
                <c:pt idx="3">
                  <c:v>45</c:v>
                </c:pt>
                <c:pt idx="4">
                  <c:v>62</c:v>
                </c:pt>
                <c:pt idx="5">
                  <c:v>74</c:v>
                </c:pt>
                <c:pt idx="6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E0B-4D60-B5DE-4ABF06778F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79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3208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8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Credit Risk Management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statischer Überwachung zu intelligenter Portfoliosteuerung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3359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Abschlussprojekt – MySQL &amp; Business Intelligence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B591F96-DB1F-6215-BC03-3D017BBE641F}"/>
              </a:ext>
            </a:extLst>
          </p:cNvPr>
          <p:cNvSpPr/>
          <p:nvPr/>
        </p:nvSpPr>
        <p:spPr>
          <a:xfrm>
            <a:off x="457200" y="419935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dirty="0">
              <a:solidFill>
                <a:schemeClr val="accent4"/>
              </a:solidFill>
            </a:endParaRPr>
          </a:p>
          <a:p>
            <a:pPr algn="ctr"/>
            <a:r>
              <a:rPr lang="en-US" sz="1400" dirty="0">
                <a:solidFill>
                  <a:srgbClr val="8A6900"/>
                </a:solidFill>
              </a:rPr>
              <a:t>Mesut Karagöz</a:t>
            </a:r>
          </a:p>
          <a:p>
            <a:pPr marL="0" indent="0" algn="ctr">
              <a:buNone/>
            </a:pPr>
            <a:endParaRPr lang="en-US" sz="14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1737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Datenverunreinigung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fragwürdige Preispolitik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73152" cy="173736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98348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3-Säulen intelligente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Risikoarchitektur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78,90% Trefferquote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Kosteneinsparung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73152" cy="1737360"/>
          </a:xfrm>
          <a:prstGeom prst="rect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8348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als Pilot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Produktion nehmen</a:t>
            </a:r>
            <a:endParaRPr lang="en-US" sz="13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B344AA0-502F-A7A5-BBD0-658DCF32E4EE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Herausforderung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Ineffiziente Überwachung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Manuelle Kontrollen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Verzögerte Berichterstattung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Reaktiver Ansatz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73152" cy="22860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9202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Fragwürdige Preispolitik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Risiko-Zins-Diskrepanz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Pricing-Fehler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Einnahmeverlust</a:t>
            </a:r>
            <a:endParaRPr lang="en-US" sz="13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A4D5145-4E0D-2A3D-D8D2-ACCABA528A11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Datensatz-Inventur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Datenbestand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32.581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Kreditdatensätze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Variablen: person_age, person_income, loan_amnt, loan_int_rate, loan_percent_income, cb_person_default_on_file, loan_grade, loan_status...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Bevor wir den Daten vertrauen, müssen wir sie hinterfragen...</a:t>
            </a:r>
            <a:endParaRPr lang="en-US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E7A9559-7776-5A24-19C1-66EFB4218A61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Datenqualität – Die "Dirty Data" Analyse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28600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 alt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Kreditnehmer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28600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 Berufserfahrung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einem 22-Jährigen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228600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Doppelte Einträge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Mit diesen Daten Entscheidungen zu treffen, wäre fatal!</a:t>
            </a:r>
            <a:endParaRPr lang="en-US" sz="16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CF44B3E-9B11-8DE2-65D7-B56EC683DCA2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"No-Delete" Reinigungsstrategie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645920" cy="164592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1645920" cy="1645920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926080" y="21031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Markierung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120640" y="1645920"/>
            <a:ext cx="1645920" cy="164592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120640" y="21031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Ausschluss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0" y="1645920"/>
            <a:ext cx="1645920" cy="16459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315200" y="21031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Kein Datenverlust  |  ✓ Prüfungssicher  |  ✓ Reversibel</a:t>
            </a:r>
            <a:endParaRPr lang="en-US" sz="1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B57AE24-88C4-B1DC-38CD-CB7EF22D71AC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Einkommen &amp; Default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893054199"/>
              </p:ext>
            </p:extLst>
          </p:nvPr>
        </p:nvGraphicFramePr>
        <p:xfrm>
          <a:off x="457200" y="128016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645920"/>
            <a:ext cx="2468880" cy="201168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21792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21792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höheres Risiko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niedrigen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Einkommensgruppe</a:t>
            </a:r>
            <a:endParaRPr lang="en-US" sz="12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935DD0-F5B1-B6F0-AD4E-E203F238918D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Gefahr der Kreditbelastung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71600"/>
            <a:ext cx="2468880" cy="2560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217920" y="1554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GEFAHREN-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0" y="2286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</a:t>
            </a:r>
            <a:endParaRPr lang="en-US" sz="36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39F72E1-7118-3945-F26D-1F8862DE3F25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Bonitätsnoten (Grade)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636080587"/>
              </p:ext>
            </p:extLst>
          </p:nvPr>
        </p:nvGraphicFramePr>
        <p:xfrm>
          <a:off x="457200" y="1188720"/>
          <a:ext cx="5943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645920"/>
            <a:ext cx="2194560" cy="219456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5836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Grade 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</a:t>
            </a:r>
            <a:endParaRPr lang="en-US" sz="36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F5DACC4-441D-0114-B961-04DD8C0B8A18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3-Säulen-Architektur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0969" y="1280160"/>
            <a:ext cx="2560320" cy="32004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39085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0969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Extremes Risiko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853" y="257175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AND-Logik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82782" y="1280160"/>
            <a:ext cx="2560320" cy="32004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309956" y="1485469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00898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Operatives Risiko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09956" y="2560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OR-Logik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Breiter Radar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78,90% Default-Quote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(High-Risk-Segment)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2711" y="1280160"/>
            <a:ext cx="2560320" cy="3200400"/>
          </a:xfrm>
          <a:prstGeom prst="rect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162711" y="148201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80827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Management-Alerts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0827" y="2560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Frühwarnung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Anomalie-Erkennung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</a:t>
            </a:r>
            <a:endParaRPr lang="en-US" sz="13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3CD4113-1BA4-F512-5487-1AC0DAB04B55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0A0A">
            <a:alpha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6.0 – Extremes Risiko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0,11% des Portfolios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Ausfallrate</a:t>
            </a:r>
            <a:endParaRPr lang="en-US" sz="2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F6209A0-C2C5-DD60-EC85-34501F6452B6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6.1 – Operatives Risiko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WICHTIGSTE FOLIE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78,90%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Trefferquote bei der Ausfallerkennung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3474720"/>
            <a:ext cx="4572000" cy="6400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28600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Branchendurchschnitt: 55-60%  |  Wir: 78,90%</a:t>
            </a:r>
            <a:endParaRPr lang="en-US" sz="1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A3690-243A-8ED2-C40C-61100392266A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6.2 – Management-Alerts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20040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Abdeckung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Pricing-Anomalien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Unerwartetes Verhalten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Unabhängig von Risikoklasse</a:t>
            </a:r>
            <a:endParaRPr lang="en-US" sz="12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AC7439E-7E05-5CCC-20EA-01CA6CEE47F3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D279-F97F-547D-4261-CDED41134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 Vorstand Monitor mit Alert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107489-8B49-6235-E246-F5B270B3A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6F0ACCA6-6991-8F0E-3576-36322C94E3A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00125" y="428624"/>
              <a:ext cx="7143750" cy="428625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6F0ACCA6-6991-8F0E-3576-36322C94E3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0125" y="428624"/>
                <a:ext cx="7143750" cy="428625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B1FC7C18-E52E-D8A9-A329-6FA56D17DD47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3579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der Pricing-Fehler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69453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Zinssatz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WARNUNG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Sehr Hoch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WARNUNG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WARNUNG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Niedrig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"Risky Grade but Low Interest" – Hochrisiko-Kredite mit niedrigen Zinsen!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Verdacht des Vorstands hat sich bestätigt.</a:t>
            </a:r>
            <a:endParaRPr lang="en-US" sz="13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20C2E4A-AC5C-2B69-15A8-8B5D6CAFE752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Effizienz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56032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Niedriges Risiko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Weniger Kontrolle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Niedrigere Kosten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56032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Hohes Risiko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3017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Intensive Kontrolle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Ressourcenfokussierung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45% Potenzial für Kosteneinsparung im operativen Bereich</a:t>
            </a:r>
            <a:endParaRPr lang="en-US" sz="16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20D2313-225D-BCD7-5F29-131F64221992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Nächste Schritte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"Weniger Kreditausfälle, niedrigere Kosten und eine datenbasierte Preispolitik."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Test mit 5.000 Krediten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Anbindung an Core-Banking-System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Schulung: 2-tägige Schulung für das Risikoteam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Ihre Aufmerksamkeit. Ich freue mich auf Ihre Fragen.</a:t>
            </a:r>
            <a:endParaRPr lang="en-US" sz="14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395AF8B-BBA6-B766-2872-10347BD46C4F}"/>
              </a:ext>
            </a:extLst>
          </p:cNvPr>
          <p:cNvSpPr txBox="1"/>
          <p:nvPr/>
        </p:nvSpPr>
        <p:spPr>
          <a:xfrm>
            <a:off x="8686800" y="4684514"/>
            <a:ext cx="46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bg1">
                    <a:lumMod val="50000"/>
                  </a:schemeClr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DDB38C51-5D7E-4EA3-8578-4641BCC2B2E6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ZbU/bSBD+K5G/9E6KqrUdv/GNclSHrlAEp/ZDFUXj3bGzxbGj9TrlRfz3m91NeAkUSkhy6HRISHh3PH5m5tl5Wa48IdtpBRdHMEFvx/uELV6i5GOse77X92q3jAlP0gwHeZhmUZrHOcOUdpuplk3dejtXngZVov4i2w4qo4sWvw37HlTVMZTmqYCqxb43RdU2NVTyEp0wbWnV4XXfw/Np1SgwKk81aDRqZyROzwTBfx/SF4FrOcNT5Nqt8jRJE/RZ6AeFD36MKTASa52ARfaoiFFtP7/X1BpkTZ8xa34yYDH4EQ9RRHnhhwJjs17ISs9F8ov986ki68jmi6lxzh5hLRslOVSetUJh60BfeXtN1U3sX/v31k+bTnE8wcJu1VrqC9I0GzXkH+sBqEZKtmcjXgG9VJBya/E1+elYGSn7ghUpVdNN7c64+bGnkOAIb4dd928Q7ooZ1JxWl+HtlqXC0ql+gHHD2KsG6lFLge5au/Wxq+dRjR7aMqSVVtZlNWfNbQD/dibyqmspRCgc6r0xKG0Ymn8nKpjAkYJGCVQfLmzs/pBqQaKgv2Tgm/XK9XBxAuiN73c4PqegM22bnBvaUMlyXNGvNopbrBaOJSwCNBzC1IbruQ+9v6PZvNtyeuFAOKdPpkDbixAsnv6StaFHn/JWobd/3k4WRn+SxD3Hyi9QdYaQ7z41P3onJP+ORE3oSH6CGoxHyDzvtJv89rxL7tDhd29o4u9S0a11hzc6r+4c7nb7TOh7HKhuCOuAA40Th0EKNB+Q2P4Xg9r3ZmZrTnFmKuhcwh0O0pfFRcoyJrI88eOMBVkUb7emFPIluadUIHC1anKI0HYKN4DsA62e9T4rqOUj0DZZHPzl4rAtIzeT61fjgiNywQepKCBIBgnL4ijNcjZ4lsjrI8sLT/WfzRhbcxLlWbMSZ0CJ+xyxPkARJhAleRIO4lgILHL/7frgSKJQstyAHyIiAoM0iH3BWJFzzoNwi36YQE1ThRpBRZa2y2bv1pcwrnp0nntfQdVdXWK9PtMTMxekIotD7qc+Z5iw5ymwznz+tPGvTeLrRePGvZGseTNZEdBau/Ff8J2s9UiZ8fN++82eAr+98N7bXYXUGvIK989XLX8bJKsbJkLIBIQZBKnPIp7EvIDi58drfj8RUV6m3irx84gXAnPkyMnCR6PjFNmubnG5QBPgR9VMrMb5RciMJH9uRt9z3mSmSn8do8ldthrXQi6IetToh246WHLdC/p092ChPcMJwmQbVqP82+N97FHT2zXSpo8dDm8GlH+Tub+SCpTUYxqiJLf9+Xw82GKCeGjD0q3FzfBwauYcsT9zft/g/cIrAVuc5q7OPHy27UVDhyNcIbOIpu706y5e/o/v9uK7mQHjZXDdYBH5gR8IFrIciiAeDFjgOqqn6xie67w5f6Q1jdIgRA5+nMY8GwRRzF+hLS1SP8iBxVkUiiAKgqRgb7fhP5Rak2vX3vBbV9yueBNUpbWi6XQ7BY7HULsSOHVg7HWPvZCCWqCY/22r7iPlyP5vYHFNRj//AIc//MmWGAAA&quot;"/>
    <we:property name="creatorSessionId" value="&quot;6b78dfac-9784-4c68-bfa1-fbf8c4640ea7&quot;"/>
    <we:property name="creatorTenantId" value="&quot;7db25319-c04d-4699-88f4-84306cdd3f56&quot;"/>
    <we:property name="creatorUserId" value="&quot;1003200556EECD41&quot;"/>
    <we:property name="datasetId" value="&quot;2c58dd13-a83b-46f1-92e2-dde2fc1bb149&quot;"/>
    <we:property name="embedUrl" value="&quot;/reportEmbed?reportId=1defcb01-846f-4c48-91e0-3b3a74f3b38c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YTW/jNhD9K4YuezEKSrI+nJuTZtFi84WkyB6KwBiRI5kbmTQoyk028H/vkHK6GyeNG8c2cqhP1nA4fDPzSD3qIRCymdVwfwZTDA6CE2zwO0o+QdULg36gOvPh+fmX09Hll/HZ6PSYzHpmpVZNcPAQWDAV2mvZtFC7IGT886YfQF1fQOWeSqgb7AczNI1WUMvv2DnTkDUtLvoB3s1qbcCFvLJg0YWdkzs909rhLzGtCNzKOV4ht52V51meYcjiMCpDCFPMgZFb0zl4ZC+6uNB++SOtLEhFyzhbmA1YCmHCYxRJUYaxwNTZS1nbpUtxf3w3M5Qd5Xw/c1U5IqyVNpJDHfgsDDYd6IfgSNft1P87fmK/0q3heImlH1JW2nuKNB9rqo+vANRjI5vbMa+BJpUU3Ge8oDpdGOflJ3iXyuh25kcm+q8jgwRHBAds0f8H4UjMQXGyrsIbVZXBqgv9DOOOsdca1LihRreNH/rcqmVXk+e53JClkaqql6z50cA/uhR53TbUIhQd6qMJGOsYWnwjKrjGUQBtBJrDe9+7X6V5JFHUX0nww1ZlcfO4A2jGt584vqRgl9o+OXezcKPDtMzZkIlhkYXpkEXDJN3vtinlW8pbGRC42YY5RWhagztAdkjW2965ASVfgLZL/oer/N9Xkruh82Zc6Ihc8kEuSoiyQcaGaZIPCzZYS+TtkeWNO/E3PcGmdykbeas34gwY8ZQjvgYo4gySrMjiQZoKgWURftwanEkURlY7qENe5mFUAEuHSSyiJIqykn3cOpxKa2va/9uvQ5LkUYyclFOe8uEgSlLu+fBqKIt3ttB3L0QLozASLGYFlFE6GLCIvSNaDEMB8RCiPGQJz1JeQvnvPVqq2IQYTm+pLCwSXgoskCOn0C++lrpALs71oxIlufDZ6KmPuJTLc/L8qXVTUKR5zRioIYS1H3RpMHfefZ2gY4E/15SQjxrjTNvn1Ph95dRr/vt52D14aCtEeQIu8GfwNdStF+wU/URSvl0LvJlmfDrTvZHz/uTc3UG58Fx63yt7pUhrUG6ibY20kylayd3TCZZ269rurTmsSNxLWU08qCtOk8TxvKv7DsXoOwF7nO5i5x7O/QGlaXPEG5w1QqvWvk+l/9/f/fV3N1LtbXA7iZa5a3kuhmnMwzzkDDO2Xp5s867xOuj3XjC2i6b72jKWiuvphoD2yE9fO6ns2LivP0/5yV4Dv7/2rnsvrT33LBQ1Ht9tejXbIVkXftcndP1hkEdpKBgrC855FO9R9b6Od6S+w6TuUal6X8GoVlWotiV0/eHywxJM0VQeuG5tMwOOF6A64TbrAEn0fpQwKOEW9v+9VnxBRPnPn4FfhKBIIsGaCe6jaLDUWvT7G0x9if6iFQAA&quot;"/>
    <we:property name="isFiltersActionButtonVisible" value="true"/>
    <we:property name="isTitleSuggestionsDialogDismissed" value="true"/>
    <we:property name="isVisualContainerHeaderHidden" value="false"/>
    <we:property name="pageDisplayName" value="&quot; Vorstand Monitor mit Alert&quot;"/>
    <we:property name="pageName" value="&quot;c8787e10312f1a16e8a0&quot;"/>
    <we:property name="pptInsertionSessionID" value="&quot;CB2899F9-9975-4B29-AB79-662E759DC056&quot;"/>
    <we:property name="reportEmbeddedTime" value="&quot;2026-02-03T21:43:09.666Z&quot;"/>
    <we:property name="reportName" value="&quot;credit_dataset_powerbi&quot;"/>
    <we:property name="reportState" value="&quot;CONNECTED&quot;"/>
    <we:property name="reportUrl" value="&quot;/groups/me/reports/1defcb01-846f-4c48-91e0-3b3a74f3b38c/c8787e10312f1a16e8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Bildschirmpräsentation (16:9)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 Vorstand Monitor mit Alert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Datengetriebenes Kreditrisikomanagement</dc:title>
  <dc:subject>PptxGenJS Presentation</dc:subject>
  <dc:creator>Kreditrisiko-Team</dc:creator>
  <cp:lastModifiedBy>Mesut Karagöz</cp:lastModifiedBy>
  <cp:revision>27</cp:revision>
  <dcterms:created xsi:type="dcterms:W3CDTF">2026-02-01T16:40:53Z</dcterms:created>
  <dcterms:modified xsi:type="dcterms:W3CDTF">2026-02-05T15:05:47Z</dcterms:modified>
</cp:coreProperties>
</file>